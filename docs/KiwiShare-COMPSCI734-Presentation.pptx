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005840"/>
            <a:ext cx="4114800" cy="384048"/>
          </a:xfrm>
          <a:prstGeom prst="roundRect">
            <a:avLst/>
          </a:prstGeom>
          <a:solidFill>
            <a:srgbClr val="0C282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4D399"/>
                </a:solidFill>
                <a:latin typeface="Arial"/>
              </a:defRPr>
            </a:pPr>
            <a:r>
              <a:t>🌿  COMPSCI 734  •  UNIVERSITY OF AUCKLAND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Arial"/>
              </a:defRPr>
            </a:pPr>
            <a:r>
              <a:t>SUSTAINABLE COMMUNITY MARKETPLACE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5303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600" b="1">
                <a:solidFill>
                  <a:srgbClr val="FFFFFF"/>
                </a:solidFill>
                <a:latin typeface="Arial"/>
              </a:rPr>
              <a:t>Kiwi</a:t>
            </a:r>
            <a:r>
              <a:rPr sz="5600" b="1">
                <a:solidFill>
                  <a:srgbClr val="34D399"/>
                </a:solidFill>
                <a:latin typeface="Arial"/>
              </a:rPr>
              <a:t>Share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B0C3DE"/>
                </a:solidFill>
                <a:latin typeface="Arial"/>
              </a:defRPr>
            </a:pPr>
            <a:r>
              <a:t>A Decoupled, Cloud-Native &amp; Cross-Platform Solution for Aotearoa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Arial"/>
              </a:defRPr>
            </a:pPr>
            <a:r>
              <a:t>Team Five Guys  ·  COMPSCI 734  ·  University of Auckland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480560"/>
            <a:ext cx="2377440" cy="438912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26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4D399"/>
                </a:solidFill>
                <a:latin typeface="Arial"/>
              </a:defRPr>
            </a:pPr>
            <a:r>
              <a:t>● Live in Production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39" y="4480560"/>
            <a:ext cx="2377440" cy="438912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26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🌐 kiwishare.online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74920"/>
            <a:ext cx="2377440" cy="438912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26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Arial"/>
              </a:defRPr>
            </a:pPr>
            <a:r>
              <a:t>☁️ kiwishare.onrender.com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39" y="5074920"/>
            <a:ext cx="2377440" cy="438912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26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4D399"/>
                </a:solidFill>
                <a:latin typeface="Arial"/>
              </a:defRPr>
            </a:pPr>
            <a:r>
              <a:t>📱 Android APK Ready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097280"/>
            <a:ext cx="5148072" cy="4773168"/>
          </a:xfrm>
          <a:prstGeom prst="roundRect">
            <a:avLst/>
          </a:prstGeom>
          <a:solidFill>
            <a:srgbClr val="101E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lide1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170432"/>
            <a:ext cx="5001768" cy="42428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0" y="5449824"/>
            <a:ext cx="496519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34D399"/>
                </a:solidFill>
                <a:latin typeface="Arial"/>
              </a:defRPr>
            </a:pPr>
            <a:r>
              <a:t>Auckland Sky Tower · Campus Ecosystem · Sustainable Circular Economy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263640"/>
            <a:ext cx="10725912" cy="13716"/>
          </a:xfrm>
          <a:prstGeom prst="rect">
            <a:avLst/>
          </a:prstGeom>
          <a:solidFill>
            <a:srgbClr val="1E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327648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788CA8"/>
                </a:solidFill>
                <a:latin typeface="Arial"/>
              </a:defRPr>
            </a:pPr>
            <a:r>
              <a:t>KiwiShare · Team Five Guys · COMPSCI 734 · University of Auckland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327648"/>
            <a:ext cx="36850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34D399"/>
                </a:solidFill>
                <a:latin typeface="Arial"/>
              </a:defRPr>
            </a:pPr>
            <a:r>
              <a:t>Slide 01 of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3291840" cy="329184"/>
          </a:xfrm>
          <a:prstGeom prst="roundRect">
            <a:avLst/>
          </a:prstGeom>
          <a:solidFill>
            <a:srgbClr val="102D2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34D399"/>
                </a:solidFill>
                <a:latin typeface="Arial"/>
              </a:defRPr>
            </a:pPr>
            <a:r>
              <a:t>RUBRIC CRITERION 04 · USER NEED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68096"/>
            <a:ext cx="10725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Genuine User Need: Building Verified Trust in Aotearoa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0C3DE"/>
                </a:solidFill>
                <a:latin typeface="Arial"/>
              </a:defRPr>
            </a:pPr>
            <a:r>
              <a:t>Eliminating second-hand friction, seller ghosting, and commission tax for campus communities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303520" cy="2011680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26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929384"/>
            <a:ext cx="4901183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1. Institutional Trust vs Anonymous Friction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•  Student Identity Verification: </a:t>
            </a:r>
            <a:r>
              <a:rPr sz="950">
                <a:solidFill>
                  <a:srgbClr val="B0C3DE"/>
                </a:solidFill>
                <a:latin typeface="Arial"/>
              </a:rPr>
              <a:t>Mandatory .ac.nz institutional email verification eliminates anonymous scammers and counterfeit items.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•  Public Reputation Badges: </a:t>
            </a:r>
            <a:r>
              <a:rPr sz="950">
                <a:solidFill>
                  <a:srgbClr val="B0C3DE"/>
                </a:solidFill>
                <a:latin typeface="Arial"/>
              </a:rPr>
              <a:t>Every profile displays verified student status, completed transactions, and transparent community feedback.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•  Campus Safety Baseline: </a:t>
            </a:r>
            <a:r>
              <a:rPr sz="950">
                <a:solidFill>
                  <a:srgbClr val="B0C3DE"/>
                </a:solidFill>
                <a:latin typeface="Arial"/>
              </a:rPr>
              <a:t>Builds inherent peer-to-peer accountability across student dorms, faculties, and campuses.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06B6D4"/>
                </a:solidFill>
                <a:latin typeface="Arial"/>
              </a:rPr>
              <a:t> [Verified .ac.nz] </a:t>
            </a:r>
            <a:r>
              <a:rPr sz="850" b="1">
                <a:solidFill>
                  <a:srgbClr val="06B6D4"/>
                </a:solidFill>
                <a:latin typeface="Arial"/>
              </a:rPr>
              <a:t> [Zero Scammers] </a:t>
            </a:r>
            <a:r>
              <a:rPr sz="850" b="1">
                <a:solidFill>
                  <a:srgbClr val="06B6D4"/>
                </a:solidFill>
                <a:latin typeface="Arial"/>
              </a:rPr>
              <a:t> [Campus Safety]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303520" cy="2011680"/>
          </a:xfrm>
          <a:prstGeom prst="roundRect">
            <a:avLst/>
          </a:prstGeom>
          <a:solidFill>
            <a:srgbClr val="14243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4169664"/>
            <a:ext cx="4901183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Arial"/>
              </a:defRPr>
            </a:pPr>
            <a:r>
              <a:t>2. Dynamic Trust Scores &amp; Zero Platform Tax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•  Dynamic Trust Scoring (0–100): </a:t>
            </a:r>
            <a:r>
              <a:rPr sz="950">
                <a:solidFill>
                  <a:srgbClr val="B0C3DE"/>
                </a:solidFill>
                <a:latin typeface="Arial"/>
              </a:rPr>
              <a:t>Proprietary algorithm awards +5 reputation points for successful handovers and penalizes meetup cancellations.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•  100% Free Campus Exchange: </a:t>
            </a:r>
            <a:r>
              <a:rPr sz="950">
                <a:solidFill>
                  <a:srgbClr val="B0C3DE"/>
                </a:solidFill>
                <a:latin typeface="Arial"/>
              </a:rPr>
              <a:t>Zero commission fees compared to Trade Me's 7.9%–12.9% cut, encouraging sustainable item reuse.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•  Spatial Proximity Indexing: </a:t>
            </a:r>
            <a:r>
              <a:rPr sz="950">
                <a:solidFill>
                  <a:srgbClr val="B0C3DE"/>
                </a:solidFill>
                <a:latin typeface="Arial"/>
              </a:rPr>
              <a:t>Geospatial indexing matches buyers with items within walking distance (CBD, Ponsonby, Grafton).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06B6D4"/>
                </a:solidFill>
                <a:latin typeface="Arial"/>
              </a:rPr>
              <a:t> [Trust Score 0-100] </a:t>
            </a:r>
            <a:r>
              <a:rPr sz="850" b="1">
                <a:solidFill>
                  <a:srgbClr val="06B6D4"/>
                </a:solidFill>
                <a:latin typeface="Arial"/>
              </a:rPr>
              <a:t> [Zero Platform Tax] </a:t>
            </a:r>
            <a:r>
              <a:rPr sz="850" b="1">
                <a:solidFill>
                  <a:srgbClr val="06B6D4"/>
                </a:solidFill>
                <a:latin typeface="Arial"/>
              </a:rPr>
              <a:t> [Geospatial Matching]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83080"/>
            <a:ext cx="5148072" cy="4270248"/>
          </a:xfrm>
          <a:prstGeom prst="roundRect">
            <a:avLst/>
          </a:prstGeom>
          <a:solidFill>
            <a:srgbClr val="101E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lide2_tru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856231"/>
            <a:ext cx="5001768" cy="37398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5632704"/>
            <a:ext cx="496519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34D399"/>
                </a:solidFill>
                <a:latin typeface="Arial"/>
              </a:defRPr>
            </a:pPr>
            <a:r>
              <a:t>University Crest Verification · 100% Trust Gauge · Localized NZ Proximity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725912" cy="13716"/>
          </a:xfrm>
          <a:prstGeom prst="rect">
            <a:avLst/>
          </a:prstGeom>
          <a:solidFill>
            <a:srgbClr val="1E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788CA8"/>
                </a:solidFill>
                <a:latin typeface="Arial"/>
              </a:defRPr>
            </a:pPr>
            <a:r>
              <a:t>KiwiShare · Team Five Guys · COMPSCI 734 · University of Auckland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327648"/>
            <a:ext cx="36850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34D399"/>
                </a:solidFill>
                <a:latin typeface="Arial"/>
              </a:defRPr>
            </a:pPr>
            <a:r>
              <a:t>Slide 02 of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3291840" cy="329184"/>
          </a:xfrm>
          <a:prstGeom prst="roundRect">
            <a:avLst/>
          </a:prstGeom>
          <a:solidFill>
            <a:srgbClr val="102D2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34D399"/>
                </a:solidFill>
                <a:latin typeface="Arial"/>
              </a:defRPr>
            </a:pPr>
            <a:r>
              <a:t>RUBRIC CRITERIA 01 &amp; 06 ·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68096"/>
            <a:ext cx="10725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Integrated Solution: Decoupled Tri-Tier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0C3DE"/>
                </a:solidFill>
                <a:latin typeface="Arial"/>
              </a:defRPr>
            </a:pPr>
            <a:r>
              <a:t>Clear functional separation: Mobile for physical exchange, Web for governance, Cloud for atomic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303520" cy="1280160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26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929384"/>
            <a:ext cx="4901183" cy="987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📱 Flutter Mobile App (Physical Interaction)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•  60 FPS Discovery: </a:t>
            </a:r>
            <a:r>
              <a:rPr sz="950">
                <a:solidFill>
                  <a:srgbClr val="B0C3DE"/>
                </a:solidFill>
                <a:latin typeface="Arial"/>
              </a:rPr>
              <a:t>Mobile-optimized browsing, category filtering, and nearby distance queries.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•  Hardware Integration: </a:t>
            </a:r>
            <a:r>
              <a:rPr sz="950">
                <a:solidFill>
                  <a:srgbClr val="B0C3DE"/>
                </a:solidFill>
                <a:latin typeface="Arial"/>
              </a:rPr>
              <a:t>Optical QR scanning for instant handovers; native voice recording in chat.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06B6D4"/>
                </a:solidFill>
                <a:latin typeface="Arial"/>
              </a:rPr>
              <a:t> [Flutter 3.12+] </a:t>
            </a:r>
            <a:r>
              <a:rPr sz="850" b="1">
                <a:solidFill>
                  <a:srgbClr val="06B6D4"/>
                </a:solidFill>
                <a:latin typeface="Arial"/>
              </a:rPr>
              <a:t> [Provider] </a:t>
            </a:r>
            <a:r>
              <a:rPr sz="850" b="1">
                <a:solidFill>
                  <a:srgbClr val="06B6D4"/>
                </a:solidFill>
                <a:latin typeface="Arial"/>
              </a:rPr>
              <a:t> [GoRouter]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5303520" cy="1280160"/>
          </a:xfrm>
          <a:prstGeom prst="roundRect">
            <a:avLst/>
          </a:prstGeom>
          <a:solidFill>
            <a:srgbClr val="14243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3300984"/>
            <a:ext cx="4901183" cy="987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Arial"/>
              </a:defRPr>
            </a:pPr>
            <a:r>
              <a:t>🌐 React Web Portal (Platform Governance)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•  Live Administration: </a:t>
            </a:r>
            <a:r>
              <a:rPr sz="950">
                <a:solidFill>
                  <a:srgbClr val="B0C3DE"/>
                </a:solidFill>
                <a:latin typeface="Arial"/>
              </a:rPr>
              <a:t>Responsive desktop portal at kiwishare.online for platform monitoring.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•  Financial &amp; Trust Moderation: </a:t>
            </a:r>
            <a:r>
              <a:rPr sz="950">
                <a:solidFill>
                  <a:srgbClr val="B0C3DE"/>
                </a:solidFill>
                <a:latin typeface="Arial"/>
              </a:rPr>
              <a:t>Real-time GMV metrics, user trust score adjustments, and item moderation.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06B6D4"/>
                </a:solidFill>
                <a:latin typeface="Arial"/>
              </a:rPr>
              <a:t> [React 18] </a:t>
            </a:r>
            <a:r>
              <a:rPr sz="850" b="1">
                <a:solidFill>
                  <a:srgbClr val="06B6D4"/>
                </a:solidFill>
                <a:latin typeface="Arial"/>
              </a:rPr>
              <a:t> [Vite] </a:t>
            </a:r>
            <a:r>
              <a:rPr sz="850" b="1">
                <a:solidFill>
                  <a:srgbClr val="06B6D4"/>
                </a:solidFill>
                <a:latin typeface="Arial"/>
              </a:rPr>
              <a:t> [Cloudflare SSL] </a:t>
            </a:r>
            <a:r>
              <a:rPr sz="850" b="1">
                <a:solidFill>
                  <a:srgbClr val="06B6D4"/>
                </a:solidFill>
                <a:latin typeface="Arial"/>
              </a:rPr>
              <a:t> [RBAC]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26280"/>
            <a:ext cx="5303520" cy="1508760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26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4672584"/>
            <a:ext cx="4901183" cy="1216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☁️ Koa RESTful API &amp; MongoDB Atlas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•  Stateless REST Gateway: </a:t>
            </a:r>
            <a:r>
              <a:rPr sz="950">
                <a:solidFill>
                  <a:srgbClr val="B0C3DE"/>
                </a:solidFill>
                <a:latin typeface="Arial"/>
              </a:rPr>
              <a:t>Node.js/TypeScript backend deployed on Render with standardized error handling.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•  ACID Multi-Document Sessions: </a:t>
            </a:r>
            <a:r>
              <a:rPr sz="950">
                <a:solidFill>
                  <a:srgbClr val="B0C3DE"/>
                </a:solidFill>
                <a:latin typeface="Arial"/>
              </a:rPr>
              <a:t>MongoDB replica set guarantees atomic all-or-nothing state transitions.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06B6D4"/>
                </a:solidFill>
                <a:latin typeface="Arial"/>
              </a:rPr>
              <a:t> [Koa.js] </a:t>
            </a:r>
            <a:r>
              <a:rPr sz="850" b="1">
                <a:solidFill>
                  <a:srgbClr val="06B6D4"/>
                </a:solidFill>
                <a:latin typeface="Arial"/>
              </a:rPr>
              <a:t> [TypeScript] </a:t>
            </a:r>
            <a:r>
              <a:rPr sz="850" b="1">
                <a:solidFill>
                  <a:srgbClr val="06B6D4"/>
                </a:solidFill>
                <a:latin typeface="Arial"/>
              </a:rPr>
              <a:t> [MongoDB Atlas] </a:t>
            </a:r>
            <a:r>
              <a:rPr sz="850" b="1">
                <a:solidFill>
                  <a:srgbClr val="06B6D4"/>
                </a:solidFill>
                <a:latin typeface="Arial"/>
              </a:rPr>
              <a:t> [ACID Sessions]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83080"/>
            <a:ext cx="5148072" cy="4270248"/>
          </a:xfrm>
          <a:prstGeom prst="roundRect">
            <a:avLst/>
          </a:prstGeom>
          <a:solidFill>
            <a:srgbClr val="101E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lide3_ar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856231"/>
            <a:ext cx="5001768" cy="373989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0" y="5632704"/>
            <a:ext cx="496519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34D399"/>
                </a:solidFill>
                <a:latin typeface="Arial"/>
              </a:defRPr>
            </a:pPr>
            <a:r>
              <a:t>Isometric Architecture: Flutter Mobile · React Web Admin · Koa/Atlas Cloud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263640"/>
            <a:ext cx="10725912" cy="13716"/>
          </a:xfrm>
          <a:prstGeom prst="rect">
            <a:avLst/>
          </a:prstGeom>
          <a:solidFill>
            <a:srgbClr val="1E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327648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788CA8"/>
                </a:solidFill>
                <a:latin typeface="Arial"/>
              </a:defRPr>
            </a:pPr>
            <a:r>
              <a:t>KiwiShare · Team Five Guys · COMPSCI 734 · University of Auckland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327648"/>
            <a:ext cx="36850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34D399"/>
                </a:solidFill>
                <a:latin typeface="Arial"/>
              </a:defRPr>
            </a:pPr>
            <a:r>
              <a:t>Slide 03 of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3291840" cy="329184"/>
          </a:xfrm>
          <a:prstGeom prst="roundRect">
            <a:avLst/>
          </a:prstGeom>
          <a:solidFill>
            <a:srgbClr val="102D2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34D399"/>
                </a:solidFill>
                <a:latin typeface="Arial"/>
              </a:defRPr>
            </a:pPr>
            <a:r>
              <a:t>RUBRIC CRITERION 05 · MOBILE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68096"/>
            <a:ext cx="10725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Modern Mobile Capabilities: Native Hardware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0C3DE"/>
                </a:solidFill>
                <a:latin typeface="Arial"/>
              </a:defRPr>
            </a:pPr>
            <a:r>
              <a:t>Unlocking device sensors to deliver capabilities fundamentally impossible on conventional web browsers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303520" cy="1280160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26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929384"/>
            <a:ext cx="4901183" cy="987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📷 Optical Vision &amp; Camera Scanning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•  mobile_scanner: </a:t>
            </a:r>
            <a:r>
              <a:rPr sz="950">
                <a:solidFill>
                  <a:srgbClr val="B0C3DE"/>
                </a:solidFill>
                <a:latin typeface="Arial"/>
              </a:rPr>
              <a:t>Hardware camera reads seller's dynamic QR code at 60 FPS in &lt; 200ms.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•  image_picker: </a:t>
            </a:r>
            <a:r>
              <a:rPr sz="950">
                <a:solidFill>
                  <a:srgbClr val="B0C3DE"/>
                </a:solidFill>
                <a:latin typeface="Arial"/>
              </a:rPr>
              <a:t>Fast listing photo capture with client-side compression to preserve cellular data.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06B6D4"/>
                </a:solidFill>
                <a:latin typeface="Arial"/>
              </a:rPr>
              <a:t> [mobile_scanner] </a:t>
            </a:r>
            <a:r>
              <a:rPr sz="850" b="1">
                <a:solidFill>
                  <a:srgbClr val="06B6D4"/>
                </a:solidFill>
                <a:latin typeface="Arial"/>
              </a:rPr>
              <a:t> [60 FPS Vision] </a:t>
            </a:r>
            <a:r>
              <a:rPr sz="850" b="1">
                <a:solidFill>
                  <a:srgbClr val="06B6D4"/>
                </a:solidFill>
                <a:latin typeface="Arial"/>
              </a:rPr>
              <a:t> [Client Compression]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5303520" cy="1280160"/>
          </a:xfrm>
          <a:prstGeom prst="roundRect">
            <a:avLst/>
          </a:prstGeom>
          <a:solidFill>
            <a:srgbClr val="14243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3300984"/>
            <a:ext cx="4901183" cy="987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Arial"/>
              </a:defRPr>
            </a:pPr>
            <a:r>
              <a:t>🎙️ Native Microphone &amp; Audio Streamer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•  record Package: </a:t>
            </a:r>
            <a:r>
              <a:rPr sz="950">
                <a:solidFill>
                  <a:srgbClr val="B0C3DE"/>
                </a:solidFill>
                <a:latin typeface="Arial"/>
              </a:rPr>
              <a:t>Direct microphone capture with ambient noise filtering inside real-time chat.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•  just_audio Streamer: </a:t>
            </a:r>
            <a:r>
              <a:rPr sz="950">
                <a:solidFill>
                  <a:srgbClr val="B0C3DE"/>
                </a:solidFill>
                <a:latin typeface="Arial"/>
              </a:rPr>
              <a:t>Hardware-accelerated voice note playback with interactive scrubbing timeline.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06B6D4"/>
                </a:solidFill>
                <a:latin typeface="Arial"/>
              </a:rPr>
              <a:t> [record] </a:t>
            </a:r>
            <a:r>
              <a:rPr sz="850" b="1">
                <a:solidFill>
                  <a:srgbClr val="06B6D4"/>
                </a:solidFill>
                <a:latin typeface="Arial"/>
              </a:rPr>
              <a:t> [just_audio] </a:t>
            </a:r>
            <a:r>
              <a:rPr sz="850" b="1">
                <a:solidFill>
                  <a:srgbClr val="06B6D4"/>
                </a:solidFill>
                <a:latin typeface="Arial"/>
              </a:rPr>
              <a:t> [Voice Memos]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26280"/>
            <a:ext cx="5303520" cy="1508760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26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4672584"/>
            <a:ext cx="4901183" cy="1216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📍 GPS Sensors &amp; Vector Mapping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•  geolocator &amp; geocoding: </a:t>
            </a:r>
            <a:r>
              <a:rPr sz="950">
                <a:solidFill>
                  <a:srgbClr val="B0C3DE"/>
                </a:solidFill>
                <a:latin typeface="Arial"/>
              </a:rPr>
              <a:t>High-precision device GPS automatically mapped to NZ suburbs (Ponsonby, CBD).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•  flutter_map Integration: </a:t>
            </a:r>
            <a:r>
              <a:rPr sz="950">
                <a:solidFill>
                  <a:srgbClr val="B0C3DE"/>
                </a:solidFill>
                <a:latin typeface="Arial"/>
              </a:rPr>
              <a:t>Offline-cached OpenStreetMap vector tiles with zero proprietary API fees.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06B6D4"/>
                </a:solidFill>
                <a:latin typeface="Arial"/>
              </a:rPr>
              <a:t> [geolocator] </a:t>
            </a:r>
            <a:r>
              <a:rPr sz="850" b="1">
                <a:solidFill>
                  <a:srgbClr val="06B6D4"/>
                </a:solidFill>
                <a:latin typeface="Arial"/>
              </a:rPr>
              <a:t> [NZ Geocoding] </a:t>
            </a:r>
            <a:r>
              <a:rPr sz="850" b="1">
                <a:solidFill>
                  <a:srgbClr val="06B6D4"/>
                </a:solidFill>
                <a:latin typeface="Arial"/>
              </a:rPr>
              <a:t> [OpenStreetMap]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83080"/>
            <a:ext cx="5148072" cy="4270248"/>
          </a:xfrm>
          <a:prstGeom prst="roundRect">
            <a:avLst/>
          </a:prstGeom>
          <a:solidFill>
            <a:srgbClr val="101E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lide4_mob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856231"/>
            <a:ext cx="5001768" cy="373989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0" y="5632704"/>
            <a:ext cx="496519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34D399"/>
                </a:solidFill>
                <a:latin typeface="Arial"/>
              </a:defRPr>
            </a:pPr>
            <a:r>
              <a:t>Native Hardware: Camera QR Beam · Audio Waveform · GPS Proximity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263640"/>
            <a:ext cx="10725912" cy="13716"/>
          </a:xfrm>
          <a:prstGeom prst="rect">
            <a:avLst/>
          </a:prstGeom>
          <a:solidFill>
            <a:srgbClr val="1E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327648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788CA8"/>
                </a:solidFill>
                <a:latin typeface="Arial"/>
              </a:defRPr>
            </a:pPr>
            <a:r>
              <a:t>KiwiShare · Team Five Guys · COMPSCI 734 · University of Auckland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327648"/>
            <a:ext cx="36850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34D399"/>
                </a:solidFill>
                <a:latin typeface="Arial"/>
              </a:defRPr>
            </a:pPr>
            <a:r>
              <a:t>Slide 04 of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3291840" cy="329184"/>
          </a:xfrm>
          <a:prstGeom prst="roundRect">
            <a:avLst/>
          </a:prstGeom>
          <a:solidFill>
            <a:srgbClr val="102D2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34D399"/>
                </a:solidFill>
                <a:latin typeface="Arial"/>
              </a:defRPr>
            </a:pPr>
            <a:r>
              <a:t>RUBRIC CRITERION 03 · INDEPENDENT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68096"/>
            <a:ext cx="10725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Independent Learning: Technologies Applied Beyond Course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0C3DE"/>
                </a:solidFill>
                <a:latin typeface="Arial"/>
              </a:defRPr>
            </a:pPr>
            <a:r>
              <a:t>Four research-backed architectural innovations explored, benchmarked, and implemented by the team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303520" cy="2011680"/>
          </a:xfrm>
          <a:prstGeom prst="roundRect">
            <a:avLst/>
          </a:prstGeom>
          <a:solidFill>
            <a:srgbClr val="14243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929384"/>
            <a:ext cx="4901183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Arial"/>
              </a:defRPr>
            </a:pPr>
            <a:r>
              <a:t>1. Audio Transcoding &amp; Direct Edge Uploads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•  FFmpeg-Static Pipeline: </a:t>
            </a:r>
            <a:r>
              <a:rPr sz="950">
                <a:solidFill>
                  <a:srgbClr val="B0C3DE"/>
                </a:solidFill>
                <a:latin typeface="Arial"/>
              </a:rPr>
              <a:t>Integrated static FFmpeg Linux binary to sanitize, inspect, and transcode conflicting mobile audio codecs (M4A/AAC) for 100% universal playback.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•  Cloudflare R2 Direct PUT: </a:t>
            </a:r>
            <a:r>
              <a:rPr sz="950">
                <a:solidFill>
                  <a:srgbClr val="B0C3DE"/>
                </a:solidFill>
                <a:latin typeface="Arial"/>
              </a:rPr>
              <a:t>Koa API generates 15-min S3-presigned URLs; mobile clients upload images directly to Cloudflare R2, bypassing API servers with zero egress cost.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06B6D4"/>
                </a:solidFill>
                <a:latin typeface="Arial"/>
              </a:rPr>
              <a:t> [ffmpeg-static] </a:t>
            </a:r>
            <a:r>
              <a:rPr sz="850" b="1">
                <a:solidFill>
                  <a:srgbClr val="06B6D4"/>
                </a:solidFill>
                <a:latin typeface="Arial"/>
              </a:rPr>
              <a:t> [Cloudflare R2] </a:t>
            </a:r>
            <a:r>
              <a:rPr sz="850" b="1">
                <a:solidFill>
                  <a:srgbClr val="06B6D4"/>
                </a:solidFill>
                <a:latin typeface="Arial"/>
              </a:rPr>
              <a:t> [S3 Presigned] </a:t>
            </a:r>
            <a:r>
              <a:rPr sz="850" b="1">
                <a:solidFill>
                  <a:srgbClr val="06B6D4"/>
                </a:solidFill>
                <a:latin typeface="Arial"/>
              </a:rPr>
              <a:t> [Zero Egress]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303520" cy="2011680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26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4169664"/>
            <a:ext cx="4901183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2. Generative AI Assistant &amp; Automated Monorepo CI/CD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•  Google Gemini 2.5 Flash: </a:t>
            </a:r>
            <a:r>
              <a:rPr sz="950">
                <a:solidFill>
                  <a:srgbClr val="B0C3DE"/>
                </a:solidFill>
                <a:latin typeface="Arial"/>
              </a:rPr>
              <a:t>Integrated server-side Gemini AI model to infer item category, condition, and sustainability tags from minimal user prompts in &lt; 1 second.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•  Automated Monorepo CD: </a:t>
            </a:r>
            <a:r>
              <a:rPr sz="950">
                <a:solidFill>
                  <a:srgbClr val="B0C3DE"/>
                </a:solidFill>
                <a:latin typeface="Arial"/>
              </a:rPr>
              <a:t>Configured PNPM workspaces with standard-version and 4 automated GitHub Actions pipelines auto-tagging SemVer releases on merge to main.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06B6D4"/>
                </a:solidFill>
                <a:latin typeface="Arial"/>
              </a:rPr>
              <a:t> [Gemini 2.5 Flash] </a:t>
            </a:r>
            <a:r>
              <a:rPr sz="850" b="1">
                <a:solidFill>
                  <a:srgbClr val="06B6D4"/>
                </a:solidFill>
                <a:latin typeface="Arial"/>
              </a:rPr>
              <a:t> [PNPM Workspace] </a:t>
            </a:r>
            <a:r>
              <a:rPr sz="850" b="1">
                <a:solidFill>
                  <a:srgbClr val="06B6D4"/>
                </a:solidFill>
                <a:latin typeface="Arial"/>
              </a:rPr>
              <a:t> [GitHub Actions CD] </a:t>
            </a:r>
            <a:r>
              <a:rPr sz="850" b="1">
                <a:solidFill>
                  <a:srgbClr val="06B6D4"/>
                </a:solidFill>
                <a:latin typeface="Arial"/>
              </a:rPr>
              <a:t> [SemVer]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83080"/>
            <a:ext cx="5148072" cy="4270248"/>
          </a:xfrm>
          <a:prstGeom prst="roundRect">
            <a:avLst/>
          </a:prstGeom>
          <a:solidFill>
            <a:srgbClr val="101E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lide5_innov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856231"/>
            <a:ext cx="5001768" cy="37398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5632704"/>
            <a:ext cx="496519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34D399"/>
                </a:solidFill>
                <a:latin typeface="Arial"/>
              </a:defRPr>
            </a:pPr>
            <a:r>
              <a:t>Neural AI Brain · FFmpeg Audio Pipeline · Cloudflare R2 Edge Storage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725912" cy="13716"/>
          </a:xfrm>
          <a:prstGeom prst="rect">
            <a:avLst/>
          </a:prstGeom>
          <a:solidFill>
            <a:srgbClr val="1E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788CA8"/>
                </a:solidFill>
                <a:latin typeface="Arial"/>
              </a:defRPr>
            </a:pPr>
            <a:r>
              <a:t>KiwiShare · Team Five Guys · COMPSCI 734 · University of Auckland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327648"/>
            <a:ext cx="36850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34D399"/>
                </a:solidFill>
                <a:latin typeface="Arial"/>
              </a:defRPr>
            </a:pPr>
            <a:r>
              <a:t>Slide 05 of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3291840" cy="329184"/>
          </a:xfrm>
          <a:prstGeom prst="roundRect">
            <a:avLst/>
          </a:prstGeom>
          <a:solidFill>
            <a:srgbClr val="102D2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34D399"/>
                </a:solidFill>
                <a:latin typeface="Arial"/>
              </a:defRPr>
            </a:pPr>
            <a:r>
              <a:t>RUBRIC CRITERIA 02 &amp; 06 · PROTOCOL &amp; ACID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68096"/>
            <a:ext cx="10725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Technical Mastery: Cryptographic Handover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0C3DE"/>
                </a:solidFill>
                <a:latin typeface="Arial"/>
              </a:defRPr>
            </a:pPr>
            <a:r>
              <a:t>Eliminating in-person delivery fraud and ghosting disputes through atomic cryptographic verification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303520" cy="2011680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26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929384"/>
            <a:ext cx="4901183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1. Four-Step Cryptographic Handover Flow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•  Step 1: Dynamic QR Generation: </a:t>
            </a:r>
            <a:r>
              <a:rPr sz="950">
                <a:solidFill>
                  <a:srgbClr val="B0C3DE"/>
                </a:solidFill>
                <a:latin typeface="Arial"/>
              </a:rPr>
              <a:t>Seller displays dynamic token QR_HANDOVER_TOKEN_&lt;id&gt;_&lt;nonce&gt; bound to 7-day MongoDB TTL index.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•  Step 2: Optical Camera Scan: </a:t>
            </a:r>
            <a:r>
              <a:rPr sz="950">
                <a:solidFill>
                  <a:srgbClr val="B0C3DE"/>
                </a:solidFill>
                <a:latin typeface="Arial"/>
              </a:rPr>
              <a:t>Buyer scans QR via mobile_scanner in &lt; 200ms; sends authenticated claim request.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•  Step 3 &amp; 4: State Transition: </a:t>
            </a:r>
            <a:r>
              <a:rPr sz="950">
                <a:solidFill>
                  <a:srgbClr val="B0C3DE"/>
                </a:solidFill>
                <a:latin typeface="Arial"/>
              </a:rPr>
              <a:t>Server commits transaction; seller receives +5 trust points and order is marked complete.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06B6D4"/>
                </a:solidFill>
                <a:latin typeface="Arial"/>
              </a:rPr>
              <a:t> [Dynamic Nonce] </a:t>
            </a:r>
            <a:r>
              <a:rPr sz="850" b="1">
                <a:solidFill>
                  <a:srgbClr val="06B6D4"/>
                </a:solidFill>
                <a:latin typeface="Arial"/>
              </a:rPr>
              <a:t> [TTL Expiration] </a:t>
            </a:r>
            <a:r>
              <a:rPr sz="850" b="1">
                <a:solidFill>
                  <a:srgbClr val="06B6D4"/>
                </a:solidFill>
                <a:latin typeface="Arial"/>
              </a:rPr>
              <a:t> [+5 Trust Reward]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303520" cy="2011680"/>
          </a:xfrm>
          <a:prstGeom prst="roundRect">
            <a:avLst/>
          </a:prstGeom>
          <a:solidFill>
            <a:srgbClr val="14243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4169664"/>
            <a:ext cx="4901183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Arial"/>
              </a:defRPr>
            </a:pPr>
            <a:r>
              <a:t>2. MongoDB ACID Multi-Document Atomicity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•  All-or-Nothing Commit: </a:t>
            </a:r>
            <a:r>
              <a:rPr sz="950">
                <a:solidFill>
                  <a:srgbClr val="B0C3DE"/>
                </a:solidFill>
                <a:latin typeface="Arial"/>
              </a:rPr>
              <a:t>Koa executes runMongoTransaction: [Transfer Ownership] ➔ [Seller TrustScore +5] ➔ [Burn Token] ➔ [Complete Order].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•  Automatic Network Rollback: </a:t>
            </a:r>
            <a:r>
              <a:rPr sz="950">
                <a:solidFill>
                  <a:srgbClr val="B0C3DE"/>
                </a:solidFill>
                <a:latin typeface="Arial"/>
              </a:rPr>
              <a:t>If cellular connection drops mid-exchange, all operations abort cleanly with zero partial state corruption.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06B6D4"/>
                </a:solidFill>
                <a:latin typeface="Arial"/>
              </a:rPr>
              <a:t> [runMongoTransaction] </a:t>
            </a:r>
            <a:r>
              <a:rPr sz="850" b="1">
                <a:solidFill>
                  <a:srgbClr val="06B6D4"/>
                </a:solidFill>
                <a:latin typeface="Arial"/>
              </a:rPr>
              <a:t> [Zero State Drift] </a:t>
            </a:r>
            <a:r>
              <a:rPr sz="850" b="1">
                <a:solidFill>
                  <a:srgbClr val="06B6D4"/>
                </a:solidFill>
                <a:latin typeface="Arial"/>
              </a:rPr>
              <a:t> [Atomic Rollback]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83080"/>
            <a:ext cx="5148072" cy="4270248"/>
          </a:xfrm>
          <a:prstGeom prst="roundRect">
            <a:avLst/>
          </a:prstGeom>
          <a:solidFill>
            <a:srgbClr val="101E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lide6_q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856231"/>
            <a:ext cx="5001768" cy="37398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5632704"/>
            <a:ext cx="496519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34D399"/>
                </a:solidFill>
                <a:latin typeface="Arial"/>
              </a:defRPr>
            </a:pPr>
            <a:r>
              <a:t>Dynamic Optical QR Handover · Atomic Commitment Shield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725912" cy="13716"/>
          </a:xfrm>
          <a:prstGeom prst="rect">
            <a:avLst/>
          </a:prstGeom>
          <a:solidFill>
            <a:srgbClr val="1E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788CA8"/>
                </a:solidFill>
                <a:latin typeface="Arial"/>
              </a:defRPr>
            </a:pPr>
            <a:r>
              <a:t>KiwiShare · Team Five Guys · COMPSCI 734 · University of Auckland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327648"/>
            <a:ext cx="36850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34D399"/>
                </a:solidFill>
                <a:latin typeface="Arial"/>
              </a:defRPr>
            </a:pPr>
            <a:r>
              <a:t>Slide 06 of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3291840" cy="329184"/>
          </a:xfrm>
          <a:prstGeom prst="roundRect">
            <a:avLst/>
          </a:prstGeom>
          <a:solidFill>
            <a:srgbClr val="102D2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34D399"/>
                </a:solidFill>
                <a:latin typeface="Arial"/>
              </a:defRPr>
            </a:pPr>
            <a:r>
              <a:t>RUBRIC CRITERION 09 ·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68096"/>
            <a:ext cx="10725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Cybersecurity &amp; Privacy: Defense-in-Depth OWASP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0C3DE"/>
                </a:solidFill>
                <a:latin typeface="Arial"/>
              </a:defRPr>
            </a:pPr>
            <a:r>
              <a:t>Proactive mitigation embedded across client apps, API gateway, and database layers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303520" cy="2011680"/>
          </a:xfrm>
          <a:prstGeom prst="roundRect">
            <a:avLst/>
          </a:prstGeom>
          <a:solidFill>
            <a:srgbClr val="14243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929384"/>
            <a:ext cx="4901183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Arial"/>
              </a:defRPr>
            </a:pPr>
            <a:r>
              <a:t>1. Access Control &amp; Cryptographic Defense (A01, A02)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•  JWT Authorization &amp; RBAC: </a:t>
            </a:r>
            <a:r>
              <a:rPr sz="950">
                <a:solidFill>
                  <a:srgbClr val="B0C3DE"/>
                </a:solidFill>
                <a:latin typeface="Arial"/>
              </a:rPr>
              <a:t>Cryptographically signed JWT bearer tokens required for mutations; requireAdmin middleware guards governance routes.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•  Bcrypt Password Hashing: </a:t>
            </a:r>
            <a:r>
              <a:rPr sz="950">
                <a:solidFill>
                  <a:srgbClr val="B0C3DE"/>
                </a:solidFill>
                <a:latin typeface="Arial"/>
              </a:rPr>
              <a:t>User passwords salted and hashed with bcrypt (12 work factor rounds).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•  TLS 1.3 HTTPS &amp; Secrets Vault: </a:t>
            </a:r>
            <a:r>
              <a:rPr sz="950">
                <a:solidFill>
                  <a:srgbClr val="B0C3DE"/>
                </a:solidFill>
                <a:latin typeface="Arial"/>
              </a:rPr>
              <a:t>End-to-end encryption across Cloudflare edge; zero secrets stored in git repositories.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06B6D4"/>
                </a:solidFill>
                <a:latin typeface="Arial"/>
              </a:rPr>
              <a:t> [JWT Bearer] </a:t>
            </a:r>
            <a:r>
              <a:rPr sz="850" b="1">
                <a:solidFill>
                  <a:srgbClr val="06B6D4"/>
                </a:solidFill>
                <a:latin typeface="Arial"/>
              </a:rPr>
              <a:t> [requireAdmin RBAC] </a:t>
            </a:r>
            <a:r>
              <a:rPr sz="850" b="1">
                <a:solidFill>
                  <a:srgbClr val="06B6D4"/>
                </a:solidFill>
                <a:latin typeface="Arial"/>
              </a:rPr>
              <a:t> [Bcrypt (12 Rounds)]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303520" cy="2011680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26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4169664"/>
            <a:ext cx="4901183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2. Injection Prevention &amp; Server Hardening (A03, A05)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•  NoSQL &amp; ReDoS Sanitization: </a:t>
            </a:r>
            <a:r>
              <a:rPr sz="950">
                <a:solidFill>
                  <a:srgbClr val="B0C3DE"/>
                </a:solidFill>
                <a:latin typeface="Arial"/>
              </a:rPr>
              <a:t>Strict Mongoose schemas block query injection; search queries sanitize regex expressions to prevent catastrophic backtracking.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•  Security Header Hardening: </a:t>
            </a:r>
            <a:r>
              <a:rPr sz="950">
                <a:solidFill>
                  <a:srgbClr val="B0C3DE"/>
                </a:solidFill>
                <a:latin typeface="Arial"/>
              </a:rPr>
              <a:t>Removed X-Powered-By fingerprint headers; strict CORS whitelist enforces approved production origins.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•  Masked Error Interceptor: </a:t>
            </a:r>
            <a:r>
              <a:rPr sz="950">
                <a:solidFill>
                  <a:srgbClr val="B0C3DE"/>
                </a:solidFill>
                <a:latin typeface="Arial"/>
              </a:rPr>
              <a:t>Runtime exceptions masked from client responses while detailed stack traces logged internally.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06B6D4"/>
                </a:solidFill>
                <a:latin typeface="Arial"/>
              </a:rPr>
              <a:t> [NoSQL Defense] </a:t>
            </a:r>
            <a:r>
              <a:rPr sz="850" b="1">
                <a:solidFill>
                  <a:srgbClr val="06B6D4"/>
                </a:solidFill>
                <a:latin typeface="Arial"/>
              </a:rPr>
              <a:t> [ReDoS Mitigation] </a:t>
            </a:r>
            <a:r>
              <a:rPr sz="850" b="1">
                <a:solidFill>
                  <a:srgbClr val="06B6D4"/>
                </a:solidFill>
                <a:latin typeface="Arial"/>
              </a:rPr>
              <a:t> [CORS Whitelist] </a:t>
            </a:r>
            <a:r>
              <a:rPr sz="850" b="1">
                <a:solidFill>
                  <a:srgbClr val="06B6D4"/>
                </a:solidFill>
                <a:latin typeface="Arial"/>
              </a:rPr>
              <a:t> [Error Masking]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83080"/>
            <a:ext cx="5148072" cy="4270248"/>
          </a:xfrm>
          <a:prstGeom prst="roundRect">
            <a:avLst/>
          </a:prstGeom>
          <a:solidFill>
            <a:srgbClr val="101E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lide7_secur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856231"/>
            <a:ext cx="5001768" cy="37398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5632704"/>
            <a:ext cx="496519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34D399"/>
                </a:solidFill>
                <a:latin typeface="Arial"/>
              </a:defRPr>
            </a:pPr>
            <a:r>
              <a:t>Cyber Defense: Padlock Encryption · Firewall Shield · OWASP Top 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725912" cy="13716"/>
          </a:xfrm>
          <a:prstGeom prst="rect">
            <a:avLst/>
          </a:prstGeom>
          <a:solidFill>
            <a:srgbClr val="1E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788CA8"/>
                </a:solidFill>
                <a:latin typeface="Arial"/>
              </a:defRPr>
            </a:pPr>
            <a:r>
              <a:t>KiwiShare · Team Five Guys · COMPSCI 734 · University of Auckland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327648"/>
            <a:ext cx="36850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34D399"/>
                </a:solidFill>
                <a:latin typeface="Arial"/>
              </a:defRPr>
            </a:pPr>
            <a:r>
              <a:t>Slide 07 of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3291840" cy="329184"/>
          </a:xfrm>
          <a:prstGeom prst="roundRect">
            <a:avLst/>
          </a:prstGeom>
          <a:solidFill>
            <a:srgbClr val="102D2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34D399"/>
                </a:solidFill>
                <a:latin typeface="Arial"/>
              </a:defRPr>
            </a:pPr>
            <a:r>
              <a:t>RUBRIC CRITERIA 07 &amp; 08 · ENGINEERING &amp;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68096"/>
            <a:ext cx="10725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Software Engineering Standards &amp; Multi-Tier Testing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0C3DE"/>
                </a:solidFill>
                <a:latin typeface="Arial"/>
              </a:defRPr>
            </a:pPr>
            <a:r>
              <a:t>Enforcing production-grade code quality, automated test suites, and transparent team workflows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303520" cy="2011680"/>
          </a:xfrm>
          <a:prstGeom prst="roundRect">
            <a:avLst/>
          </a:prstGeom>
          <a:solidFill>
            <a:srgbClr val="14243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929384"/>
            <a:ext cx="4901183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Arial"/>
              </a:defRPr>
            </a:pPr>
            <a:r>
              <a:t>1. Multi-Tier Automated Testing Suites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•  12 Backend Jest Suites: </a:t>
            </a:r>
            <a:r>
              <a:rPr sz="950">
                <a:solidFill>
                  <a:srgbClr val="B0C3DE"/>
                </a:solidFill>
                <a:latin typeface="Arial"/>
              </a:rPr>
              <a:t>Unit and integration tests with Supertest HTTP mocking covering Auth, OTP, Meetups, Transactions, and Admin.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•  Flutter Test Suites: </a:t>
            </a:r>
            <a:r>
              <a:rPr sz="950">
                <a:solidFill>
                  <a:srgbClr val="B0C3DE"/>
                </a:solidFill>
                <a:latin typeface="Arial"/>
              </a:rPr>
              <a:t>Granular repository, provider, navigation, and widget tests in mobile/test/ verifying offline states.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•  Audit Verification Reports: </a:t>
            </a:r>
            <a:r>
              <a:rPr sz="950">
                <a:solidFill>
                  <a:srgbClr val="B0C3DE"/>
                </a:solidFill>
                <a:latin typeface="Arial"/>
              </a:rPr>
              <a:t>Formal subsystem test reports archived in docs/testing-strategy/ for complete traceability.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06B6D4"/>
                </a:solidFill>
                <a:latin typeface="Arial"/>
              </a:rPr>
              <a:t> [12 Jest Suites] </a:t>
            </a:r>
            <a:r>
              <a:rPr sz="850" b="1">
                <a:solidFill>
                  <a:srgbClr val="06B6D4"/>
                </a:solidFill>
                <a:latin typeface="Arial"/>
              </a:rPr>
              <a:t> [Flutter Widget Tests] </a:t>
            </a:r>
            <a:r>
              <a:rPr sz="850" b="1">
                <a:solidFill>
                  <a:srgbClr val="06B6D4"/>
                </a:solidFill>
                <a:latin typeface="Arial"/>
              </a:rPr>
              <a:t> [Supertest Mocking]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303520" cy="2011680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26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4169664"/>
            <a:ext cx="4901183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2. Git-Flow Branching &amp; 4 Automated CI Pipelines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•  Structured Git-Flow: </a:t>
            </a:r>
            <a:r>
              <a:rPr sz="950">
                <a:solidFill>
                  <a:srgbClr val="B0C3DE"/>
                </a:solidFill>
                <a:latin typeface="Arial"/>
              </a:rPr>
              <a:t>Feature branches (feature/*) merge into pre for integration, with production releases tagged on main.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•  4 Parallel GitHub Actions: </a:t>
            </a:r>
            <a:r>
              <a:rPr sz="950">
                <a:solidFill>
                  <a:srgbClr val="B0C3DE"/>
                </a:solidFill>
                <a:latin typeface="Arial"/>
              </a:rPr>
              <a:t>Automated workflows validate linting (ESLint, Dart Analyze), execute tests, and compile Android APKs.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•  Pre-Commit Hygiene: </a:t>
            </a:r>
            <a:r>
              <a:rPr sz="950">
                <a:solidFill>
                  <a:srgbClr val="B0C3DE"/>
                </a:solidFill>
                <a:latin typeface="Arial"/>
              </a:rPr>
              <a:t>Husky hooks enforce Prettier and Dart Format to ensure zero lint drift across the monorepo.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06B6D4"/>
                </a:solidFill>
                <a:latin typeface="Arial"/>
              </a:rPr>
              <a:t> [Git-Flow Model] </a:t>
            </a:r>
            <a:r>
              <a:rPr sz="850" b="1">
                <a:solidFill>
                  <a:srgbClr val="06B6D4"/>
                </a:solidFill>
                <a:latin typeface="Arial"/>
              </a:rPr>
              <a:t> [GitHub Actions CI] </a:t>
            </a:r>
            <a:r>
              <a:rPr sz="850" b="1">
                <a:solidFill>
                  <a:srgbClr val="06B6D4"/>
                </a:solidFill>
                <a:latin typeface="Arial"/>
              </a:rPr>
              <a:t> [Husky Pre-Commit]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83080"/>
            <a:ext cx="5148072" cy="4270248"/>
          </a:xfrm>
          <a:prstGeom prst="roundRect">
            <a:avLst/>
          </a:prstGeom>
          <a:solidFill>
            <a:srgbClr val="101E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lide8_test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856231"/>
            <a:ext cx="5001768" cy="37398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5632704"/>
            <a:ext cx="496519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34D399"/>
                </a:solidFill>
                <a:latin typeface="Arial"/>
              </a:defRPr>
            </a:pPr>
            <a:r>
              <a:t>Continuous Testing: Automated Test Nodes · CI/CD Quality Gate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725912" cy="13716"/>
          </a:xfrm>
          <a:prstGeom prst="rect">
            <a:avLst/>
          </a:prstGeom>
          <a:solidFill>
            <a:srgbClr val="1E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788CA8"/>
                </a:solidFill>
                <a:latin typeface="Arial"/>
              </a:defRPr>
            </a:pPr>
            <a:r>
              <a:t>KiwiShare · Team Five Guys · COMPSCI 734 · University of Auckland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327648"/>
            <a:ext cx="36850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34D399"/>
                </a:solidFill>
                <a:latin typeface="Arial"/>
              </a:defRPr>
            </a:pPr>
            <a:r>
              <a:t>Slide 08 of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3291840" cy="329184"/>
          </a:xfrm>
          <a:prstGeom prst="roundRect">
            <a:avLst/>
          </a:prstGeom>
          <a:solidFill>
            <a:srgbClr val="102D2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34D399"/>
                </a:solidFill>
                <a:latin typeface="Arial"/>
              </a:defRPr>
            </a:pPr>
            <a:r>
              <a:t>RUBRIC CRITERIA 10 &amp; 11 · LIVE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68096"/>
            <a:ext cx="10725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Realistic Deployment: 100% Live Production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0C3DE"/>
                </a:solidFill>
                <a:latin typeface="Arial"/>
              </a:defRPr>
            </a:pPr>
            <a:r>
              <a:t>Publicly accessible production services deployed across edge CDN, cloud containers, and physical mobile devices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303520" cy="2011680"/>
          </a:xfrm>
          <a:prstGeom prst="roundRect">
            <a:avLst/>
          </a:prstGeom>
          <a:solidFill>
            <a:srgbClr val="14243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929384"/>
            <a:ext cx="4901183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Arial"/>
              </a:defRPr>
            </a:pPr>
            <a:r>
              <a:t>1. Public Production Endpoints (Ready to Access)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•  Web Portal (kiwishare.online): </a:t>
            </a:r>
            <a:r>
              <a:rPr sz="950">
                <a:solidFill>
                  <a:srgbClr val="B0C3DE"/>
                </a:solidFill>
                <a:latin typeface="Arial"/>
              </a:rPr>
              <a:t>Live single-page application hosted with Cloudflare CDN, global edge caching, and automated SSL.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•  REST API (kiwishare.onrender.com): </a:t>
            </a:r>
            <a:r>
              <a:rPr sz="950">
                <a:solidFill>
                  <a:srgbClr val="B0C3DE"/>
                </a:solidFill>
                <a:latin typeface="Arial"/>
              </a:rPr>
              <a:t>Node.js 22 LTS container on Render with zero-downtime rolling updates and /health endpoint.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•  Mobile APK (GitHub Releases): </a:t>
            </a:r>
            <a:r>
              <a:rPr sz="950">
                <a:solidFill>
                  <a:srgbClr val="B0C3DE"/>
                </a:solidFill>
                <a:latin typeface="Arial"/>
              </a:rPr>
              <a:t>Compiled Android APK with release notes ready for immediate assessor download.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06B6D4"/>
                </a:solidFill>
                <a:latin typeface="Arial"/>
              </a:rPr>
              <a:t> [kiwishare.online] </a:t>
            </a:r>
            <a:r>
              <a:rPr sz="850" b="1">
                <a:solidFill>
                  <a:srgbClr val="06B6D4"/>
                </a:solidFill>
                <a:latin typeface="Arial"/>
              </a:rPr>
              <a:t> [Render Cloud] </a:t>
            </a:r>
            <a:r>
              <a:rPr sz="850" b="1">
                <a:solidFill>
                  <a:srgbClr val="06B6D4"/>
                </a:solidFill>
                <a:latin typeface="Arial"/>
              </a:rPr>
              <a:t> [GitHub Releases APK]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303520" cy="2011680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26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4169664"/>
            <a:ext cx="4901183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2. Pre-Seeded MongoDB Atlas Database (Zero Setup)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•  Campus Data Pre-Seeded: </a:t>
            </a:r>
            <a:r>
              <a:rPr sz="950">
                <a:solidFill>
                  <a:srgbClr val="B0C3DE"/>
                </a:solidFill>
                <a:latin typeface="Arial"/>
              </a:rPr>
              <a:t>Live database populated with 10 categories, verified student accounts, and active listings in Auckland (CBD, Ponsonby, Grafton).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•  Ready-to-Scan Demo Order: </a:t>
            </a:r>
            <a:r>
              <a:rPr sz="950">
                <a:solidFill>
                  <a:srgbClr val="B0C3DE"/>
                </a:solidFill>
                <a:latin typeface="Arial"/>
              </a:rPr>
              <a:t>Includes confirmed meetup order #ORD_DEMO_MEETUP_2026 for instant QR handover evaluation without local configuration.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06B6D4"/>
                </a:solidFill>
                <a:latin typeface="Arial"/>
              </a:rPr>
              <a:t> [MongoDB Atlas ReplicaSet] </a:t>
            </a:r>
            <a:r>
              <a:rPr sz="850" b="1">
                <a:solidFill>
                  <a:srgbClr val="06B6D4"/>
                </a:solidFill>
                <a:latin typeface="Arial"/>
              </a:rPr>
              <a:t> [Auckland Suburbs] </a:t>
            </a:r>
            <a:r>
              <a:rPr sz="850" b="1">
                <a:solidFill>
                  <a:srgbClr val="06B6D4"/>
                </a:solidFill>
                <a:latin typeface="Arial"/>
              </a:rPr>
              <a:t> [Zero Config]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83080"/>
            <a:ext cx="5148072" cy="4270248"/>
          </a:xfrm>
          <a:prstGeom prst="roundRect">
            <a:avLst/>
          </a:prstGeom>
          <a:solidFill>
            <a:srgbClr val="101E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lide9_deploym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856231"/>
            <a:ext cx="5001768" cy="37398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5632704"/>
            <a:ext cx="496519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34D399"/>
                </a:solidFill>
                <a:latin typeface="Arial"/>
              </a:defRPr>
            </a:pPr>
            <a:r>
              <a:t>NZ Production Mesh: Cloudflare CDN · Render API · MongoDB Atlas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725912" cy="13716"/>
          </a:xfrm>
          <a:prstGeom prst="rect">
            <a:avLst/>
          </a:prstGeom>
          <a:solidFill>
            <a:srgbClr val="1E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788CA8"/>
                </a:solidFill>
                <a:latin typeface="Arial"/>
              </a:defRPr>
            </a:pPr>
            <a:r>
              <a:t>KiwiShare · Team Five Guys · COMPSCI 734 · University of Auckland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327648"/>
            <a:ext cx="36850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34D399"/>
                </a:solidFill>
                <a:latin typeface="Arial"/>
              </a:defRPr>
            </a:pPr>
            <a:r>
              <a:t>Slide 09 of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3291840" cy="329184"/>
          </a:xfrm>
          <a:prstGeom prst="roundRect">
            <a:avLst/>
          </a:prstGeom>
          <a:solidFill>
            <a:srgbClr val="102D2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34D399"/>
                </a:solidFill>
                <a:latin typeface="Arial"/>
              </a:defRPr>
            </a:pPr>
            <a:r>
              <a:t>RUBRIC CRITERION 12 ·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68096"/>
            <a:ext cx="10725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Assessor Live Walkthrough &amp;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0C3DE"/>
                </a:solidFill>
                <a:latin typeface="Arial"/>
              </a:defRPr>
            </a:pPr>
            <a:r>
              <a:t>Ready-to-evaluate live credentials and step-by-step 3-minute evaluation scenarios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303520" cy="2011680"/>
          </a:xfrm>
          <a:prstGeom prst="roundRect">
            <a:avLst/>
          </a:prstGeom>
          <a:solidFill>
            <a:srgbClr val="14243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929384"/>
            <a:ext cx="4901183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Arial"/>
              </a:defRPr>
            </a:pPr>
            <a:r>
              <a:t>🔑 Pre-Seeded Test Credentials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•  Universal Password: </a:t>
            </a:r>
            <a:r>
              <a:rPr sz="950">
                <a:solidFill>
                  <a:srgbClr val="B0C3DE"/>
                </a:solidFill>
                <a:latin typeface="Arial"/>
              </a:rPr>
              <a:t>password123 (applies to all seeded accounts).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•  Platform Admin: </a:t>
            </a:r>
            <a:r>
              <a:rPr sz="950">
                <a:solidFill>
                  <a:srgbClr val="B0C3DE"/>
                </a:solidFill>
                <a:latin typeface="Arial"/>
              </a:rPr>
              <a:t>admin@kiwishare.online  ➔  Inspect kiwishare.online/admin for GMV analytics and user moderation.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•  Verified Student Seller: </a:t>
            </a:r>
            <a:r>
              <a:rPr sz="950">
                <a:solidFill>
                  <a:srgbClr val="B0C3DE"/>
                </a:solidFill>
                <a:latin typeface="Arial"/>
              </a:rPr>
              <a:t>moviegoer24@gmail.com  ➔  Displays QR token for order #ORD_DEMO_MEETUP_2026.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•  Verified Student Buyer: </a:t>
            </a:r>
            <a:r>
              <a:rPr sz="950">
                <a:solidFill>
                  <a:srgbClr val="B0C3DE"/>
                </a:solidFill>
                <a:latin typeface="Arial"/>
              </a:rPr>
              <a:t>testbuyer@kiwishare.online  ➔  Scans QR to claim ownership and test +5 trust reward.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06B6D4"/>
                </a:solidFill>
                <a:latin typeface="Arial"/>
              </a:rPr>
              <a:t> [P/W: password123] </a:t>
            </a:r>
            <a:r>
              <a:rPr sz="850" b="1">
                <a:solidFill>
                  <a:srgbClr val="06B6D4"/>
                </a:solidFill>
                <a:latin typeface="Arial"/>
              </a:rPr>
              <a:t> [Instant Live Login]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303520" cy="2011680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26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4169664"/>
            <a:ext cx="4901183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🚀 Fast 3-Minute Assessment Flows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•  Scenario A: Web Administration: </a:t>
            </a:r>
            <a:r>
              <a:rPr sz="950">
                <a:solidFill>
                  <a:srgbClr val="B0C3DE"/>
                </a:solidFill>
                <a:latin typeface="Arial"/>
              </a:rPr>
              <a:t>Log into kiwishare.online as Admin; review live GMV metrics, fee turnover, and adjust trust scores.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•  Scenario B: Optical QR Handover: </a:t>
            </a:r>
            <a:r>
              <a:rPr sz="950">
                <a:solidFill>
                  <a:srgbClr val="B0C3DE"/>
                </a:solidFill>
                <a:latin typeface="Arial"/>
              </a:rPr>
              <a:t>Seller displays QR token on mobile; Buyer scans to witness atomic ownership transfer and +5 trust reward.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•  Step-by-Step Guide: </a:t>
            </a:r>
            <a:r>
              <a:rPr sz="950">
                <a:solidFill>
                  <a:srgbClr val="B0C3DE"/>
                </a:solidFill>
                <a:latin typeface="Arial"/>
              </a:rPr>
              <a:t>Refer to docs/demo-guide.md for comprehensive walkthrough instructions and API curl commands.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06B6D4"/>
                </a:solidFill>
                <a:latin typeface="Arial"/>
              </a:rPr>
              <a:t> [Web Admin Board] </a:t>
            </a:r>
            <a:r>
              <a:rPr sz="850" b="1">
                <a:solidFill>
                  <a:srgbClr val="06B6D4"/>
                </a:solidFill>
                <a:latin typeface="Arial"/>
              </a:rPr>
              <a:t> [Live QR Scan] </a:t>
            </a:r>
            <a:r>
              <a:rPr sz="850" b="1">
                <a:solidFill>
                  <a:srgbClr val="06B6D4"/>
                </a:solidFill>
                <a:latin typeface="Arial"/>
              </a:rPr>
              <a:t> [docs/demo-guide.md]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83080"/>
            <a:ext cx="5148072" cy="4270248"/>
          </a:xfrm>
          <a:prstGeom prst="roundRect">
            <a:avLst/>
          </a:prstGeom>
          <a:solidFill>
            <a:srgbClr val="101E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lide10_te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856231"/>
            <a:ext cx="5001768" cy="37398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5632704"/>
            <a:ext cx="496519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34D399"/>
                </a:solidFill>
                <a:latin typeface="Arial"/>
              </a:defRPr>
            </a:pPr>
            <a:r>
              <a:t>Team Five Guys · COMPSCI 734 · University of Auckland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725912" cy="13716"/>
          </a:xfrm>
          <a:prstGeom prst="rect">
            <a:avLst/>
          </a:prstGeom>
          <a:solidFill>
            <a:srgbClr val="1E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788CA8"/>
                </a:solidFill>
                <a:latin typeface="Arial"/>
              </a:defRPr>
            </a:pPr>
            <a:r>
              <a:t>KiwiShare · Team Five Guys · COMPSCI 734 · University of Auckland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327648"/>
            <a:ext cx="36850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34D399"/>
                </a:solidFill>
                <a:latin typeface="Arial"/>
              </a:defRPr>
            </a:pPr>
            <a:r>
              <a:t>Slide 10 of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